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"/>
              </a:rPr>
              <a:t>NEXIS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2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Project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Inter"/>
              </a:rPr>
              <a:t>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1 /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50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2194560"/>
            <a:ext cx="164592" cy="2286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Inter Tight"/>
              </a:rPr>
              <a:t>Project progress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0B1220"/>
                </a:solidFill>
                <a:latin typeface="Inter Tight"/>
              </a:rPr>
              <a:t>NEXIS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B1220"/>
                </a:solidFill>
                <a:latin typeface="Inter Tight"/>
              </a:rPr>
              <a:t>Multi-tenant agentic fault-recovery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3B82F6"/>
                </a:solidFill>
                <a:latin typeface="Inter Tight"/>
              </a:rPr>
              <a:t>Architecture · database schema · phase 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20640"/>
            <a:ext cx="1065276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2578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Inter"/>
              </a:rPr>
              <a:t>Author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220"/>
                </a:solidFill>
                <a:latin typeface="Inter Tight"/>
              </a:rPr>
              <a:t>Ratul Sikder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2578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Inter"/>
              </a:rPr>
              <a:t>Reporting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532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220"/>
                </a:solidFill>
                <a:latin typeface="Inter Tight"/>
              </a:rPr>
              <a:t>2026-05-10 → 2026-05-14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2578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Inter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532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Inter Tight"/>
              </a:rPr>
              <a:t>Phase 8 shipped · Phase 9 in flight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"/>
              </a:rPr>
              <a:t>NEXIS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2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Project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Inter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2 /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50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220"/>
                </a:solidFill>
                <a:latin typeface="Inter Tight"/>
              </a:rPr>
              <a:t>Project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Inter"/>
              </a:rPr>
              <a:t>A multi-tenant SaaS that runs a 9-agent recovery pipeline per incident, with human approval on risky patches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011680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21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 Tight"/>
              </a:rPr>
              <a:t>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07208"/>
            <a:ext cx="91440" cy="914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974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220"/>
                </a:solidFill>
                <a:latin typeface="Inter"/>
              </a:rPr>
              <a:t>Sentry / ArgoCD / OTel webhooks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10128"/>
            <a:ext cx="91440" cy="914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00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220"/>
                </a:solidFill>
                <a:latin typeface="Inter"/>
              </a:rPr>
              <a:t>GitHub repo (via App)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13048"/>
            <a:ext cx="91440" cy="914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03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220"/>
                </a:solidFill>
                <a:latin typeface="Inter"/>
              </a:rPr>
              <a:t>Per-tenant API keys + RLS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0116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2011680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121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 Tight"/>
              </a:rPr>
              <a:t>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807208"/>
            <a:ext cx="91440" cy="914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26974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220"/>
                </a:solidFill>
                <a:latin typeface="Inter"/>
              </a:rPr>
              <a:t>9 LLM agents on Temporal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310128"/>
            <a:ext cx="91440" cy="914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3200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220"/>
                </a:solidFill>
                <a:latin typeface="Inter"/>
              </a:rPr>
              <a:t>Sandbox-validated patches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813048"/>
            <a:ext cx="91440" cy="914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3703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220"/>
                </a:solidFill>
                <a:latin typeface="Inter"/>
              </a:rPr>
              <a:t>Severity-routed approval gate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0116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21040" y="2011680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121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 Tight"/>
              </a:rPr>
              <a:t>Outputs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2807208"/>
            <a:ext cx="91440" cy="914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26974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220"/>
                </a:solidFill>
                <a:latin typeface="Inter"/>
              </a:rPr>
              <a:t>Pull request on tenant repo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3310128"/>
            <a:ext cx="91440" cy="914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3200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220"/>
                </a:solidFill>
                <a:latin typeface="Inter"/>
              </a:rPr>
              <a:t>Audit-logged decision trail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95360" y="3813048"/>
            <a:ext cx="91440" cy="914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3703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220"/>
                </a:solidFill>
                <a:latin typeface="Inter"/>
              </a:rPr>
              <a:t>Token + cost ledger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Inter"/>
              </a:rPr>
              <a:t>Three deployable services + one Python sidecar + one Next.js frontend.   All tenant data row-level isolated in Postgres.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"/>
              </a:rPr>
              <a:t>NEXIS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2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Project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Inter"/>
              </a:rP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3 /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50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220"/>
                </a:solidFill>
                <a:latin typeface="Inter Tight"/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Inter"/>
              </a:rPr>
              <a:t>Same code path runs in docker-compose (dev) and ECS Fargate (cloud)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36576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109728" cy="4297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Inter Tight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Go 1.22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1693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control-plane · validator · gitops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192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Chi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301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HTTP router + middleware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3250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Temporal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workflow orchestration · replay-deterministic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4573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sqlc + pgx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56631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compile-time-checked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5896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Python 3.12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6986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DoWhy causal-inference sidecar (gRPC)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011680"/>
            <a:ext cx="36576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2011680"/>
            <a:ext cx="109728" cy="4297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103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Inter Tight"/>
              </a:rPr>
              <a:t>Data + Infra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6060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Postgres 16 + pgvector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91693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34 tables · RLS FORCE on every tenant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3192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Neo4j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6301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code dependency graph for Pathfinder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03250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Redis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3434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rate-limit + 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74573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MinIO / S3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056631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envelope-encrypted patches +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45896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Temporal dev-svr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76986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Postgres-backed history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2011680"/>
            <a:ext cx="36576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21040" y="2011680"/>
            <a:ext cx="109728" cy="4297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2103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Inter Tight"/>
              </a:rPr>
              <a:t>Frontend + 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26060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Next.js 16.2.2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291693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landing + console · LIGHT default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3192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shadcn · Tremor · Monaco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36301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primitives · charts · diff viewer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03250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OTel → Grafana stack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3434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Prometheus · Loki · Tempo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74573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docker-compose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056631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16 services for full local parity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45896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JetBrains Mono"/>
              </a:rPr>
              <a:t>GitHub Actions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576986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lint · typecheck · test ·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"/>
              </a:rPr>
              <a:t>NEXIS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2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Project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Inter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4 /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50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220"/>
                </a:solidFill>
                <a:latin typeface="Inter Tight"/>
              </a:rP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Inter"/>
              </a:rPr>
              <a:t>Modular monolith for the agent plane + two carved-out services for security boundaries</a:t>
            </a:r>
          </a:p>
        </p:txBody>
      </p:sp>
      <p:pic>
        <p:nvPicPr>
          <p:cNvPr id="11" name="Picture 10" descr="micro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91640"/>
            <a:ext cx="3579745" cy="4754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178308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7830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 Tight"/>
              </a:rPr>
              <a:t>control-plane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07568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Go modular monolith.  HTTP + Temporal worker + 9-agent plane in one binary.  Internal packages enforced by go-arch-lint.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 Tight"/>
              </a:rPr>
              <a:t>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94436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Carved-out service.  Runs untrusted patch inside  --network=none --read-only  container.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39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520439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 Tight"/>
              </a:rPr>
              <a:t>gitops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1304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Carved-out service.  Sole holder of the GitHub App private key.  10-min JWT TTL.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3891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 Tight"/>
              </a:rPr>
              <a:t>causal-inference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68172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Python gRPC sidecar at :8090 for DoWhy backdoor adjustment.  Stateless.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57800"/>
            <a:ext cx="91440" cy="777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2578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 Tight"/>
              </a:rPr>
              <a:t>Data plane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55040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Postgres + Neo4j + Redis + MinIO + Temporal — all on the same docker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"/>
              </a:rPr>
              <a:t>NEXIS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2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Project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Inter"/>
              </a:rPr>
              <a:t>DB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5 /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50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220"/>
                </a:solidFill>
                <a:latin typeface="Inter Tight"/>
              </a:rPr>
              <a:t>Database schema — 34 tables across 8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Inter"/>
              </a:rPr>
              <a:t>Postgres 16 + pgvector.  All tenant tables FORCE row-level security on org_id.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19"/>
            <a:ext cx="2788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2788920" cy="29260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20239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 Tight"/>
              </a:rPr>
              <a:t>Identity &amp; Tenancy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920239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Inter"/>
              </a:rPr>
              <a:t>8 tables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2329890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240279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organizations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1851660" y="2329890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70532" y="2240279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users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2585922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496311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org_members</a:t>
            </a:r>
          </a:p>
        </p:txBody>
      </p:sp>
      <p:sp>
        <p:nvSpPr>
          <p:cNvPr id="21" name="Oval 20"/>
          <p:cNvSpPr/>
          <p:nvPr/>
        </p:nvSpPr>
        <p:spPr>
          <a:xfrm>
            <a:off x="1851660" y="2585922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70532" y="2496311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sessions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" y="2841954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752343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magic_tokens</a:t>
            </a:r>
          </a:p>
        </p:txBody>
      </p:sp>
      <p:sp>
        <p:nvSpPr>
          <p:cNvPr id="25" name="Oval 24"/>
          <p:cNvSpPr/>
          <p:nvPr/>
        </p:nvSpPr>
        <p:spPr>
          <a:xfrm>
            <a:off x="1851660" y="2841954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70532" y="2752343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api_keys</a:t>
            </a:r>
          </a:p>
        </p:txBody>
      </p:sp>
      <p:sp>
        <p:nvSpPr>
          <p:cNvPr id="27" name="Oval 26"/>
          <p:cNvSpPr/>
          <p:nvPr/>
        </p:nvSpPr>
        <p:spPr>
          <a:xfrm>
            <a:off x="594360" y="3097986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008375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org_invites</a:t>
            </a:r>
          </a:p>
        </p:txBody>
      </p:sp>
      <p:sp>
        <p:nvSpPr>
          <p:cNvPr id="29" name="Oval 28"/>
          <p:cNvSpPr/>
          <p:nvPr/>
        </p:nvSpPr>
        <p:spPr>
          <a:xfrm>
            <a:off x="1851660" y="3097986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70532" y="3008375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workspaces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1874519"/>
            <a:ext cx="2788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83280" y="1874519"/>
            <a:ext cx="2788920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1920239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 Tight"/>
              </a:rPr>
              <a:t>Workflow &amp; 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1920239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Inter"/>
              </a:rPr>
              <a:t>7 tables</a:t>
            </a:r>
          </a:p>
        </p:txBody>
      </p:sp>
      <p:sp>
        <p:nvSpPr>
          <p:cNvPr id="35" name="Oval 34"/>
          <p:cNvSpPr/>
          <p:nvPr/>
        </p:nvSpPr>
        <p:spPr>
          <a:xfrm>
            <a:off x="3520440" y="232989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9312" y="2240279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workflow_runs</a:t>
            </a:r>
          </a:p>
        </p:txBody>
      </p:sp>
      <p:sp>
        <p:nvSpPr>
          <p:cNvPr id="37" name="Oval 36"/>
          <p:cNvSpPr/>
          <p:nvPr/>
        </p:nvSpPr>
        <p:spPr>
          <a:xfrm>
            <a:off x="4777740" y="2329890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6612" y="2240279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activity_events</a:t>
            </a:r>
          </a:p>
        </p:txBody>
      </p:sp>
      <p:sp>
        <p:nvSpPr>
          <p:cNvPr id="39" name="Oval 38"/>
          <p:cNvSpPr/>
          <p:nvPr/>
        </p:nvSpPr>
        <p:spPr>
          <a:xfrm>
            <a:off x="3520440" y="258592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39312" y="2496311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agent_runs</a:t>
            </a:r>
          </a:p>
        </p:txBody>
      </p:sp>
      <p:sp>
        <p:nvSpPr>
          <p:cNvPr id="41" name="Oval 40"/>
          <p:cNvSpPr/>
          <p:nvPr/>
        </p:nvSpPr>
        <p:spPr>
          <a:xfrm>
            <a:off x="4777740" y="2585922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6612" y="2496311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patch_candidates</a:t>
            </a:r>
          </a:p>
        </p:txBody>
      </p:sp>
      <p:sp>
        <p:nvSpPr>
          <p:cNvPr id="43" name="Oval 42"/>
          <p:cNvSpPr/>
          <p:nvPr/>
        </p:nvSpPr>
        <p:spPr>
          <a:xfrm>
            <a:off x="3520440" y="284195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39312" y="2752343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validation_runs</a:t>
            </a:r>
          </a:p>
        </p:txBody>
      </p:sp>
      <p:sp>
        <p:nvSpPr>
          <p:cNvPr id="45" name="Oval 44"/>
          <p:cNvSpPr/>
          <p:nvPr/>
        </p:nvSpPr>
        <p:spPr>
          <a:xfrm>
            <a:off x="4777740" y="2841954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96612" y="2752343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root_cause_reports</a:t>
            </a:r>
          </a:p>
        </p:txBody>
      </p:sp>
      <p:sp>
        <p:nvSpPr>
          <p:cNvPr id="47" name="Oval 46"/>
          <p:cNvSpPr/>
          <p:nvPr/>
        </p:nvSpPr>
        <p:spPr>
          <a:xfrm>
            <a:off x="3520440" y="3097986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39312" y="3008375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deployments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1874519"/>
            <a:ext cx="2788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09360" y="1874519"/>
            <a:ext cx="2788920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1920239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 Tight"/>
              </a:rPr>
              <a:t>Approval &amp; Audit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1920239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Inter"/>
              </a:rPr>
              <a:t>6 tables</a:t>
            </a:r>
          </a:p>
        </p:txBody>
      </p:sp>
      <p:sp>
        <p:nvSpPr>
          <p:cNvPr id="53" name="Oval 52"/>
          <p:cNvSpPr/>
          <p:nvPr/>
        </p:nvSpPr>
        <p:spPr>
          <a:xfrm>
            <a:off x="6446520" y="232989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65392" y="2240279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approval_decisions</a:t>
            </a:r>
          </a:p>
        </p:txBody>
      </p:sp>
      <p:sp>
        <p:nvSpPr>
          <p:cNvPr id="55" name="Oval 54"/>
          <p:cNvSpPr/>
          <p:nvPr/>
        </p:nvSpPr>
        <p:spPr>
          <a:xfrm>
            <a:off x="7703820" y="2329890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22692" y="2240279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approval_policies</a:t>
            </a:r>
          </a:p>
        </p:txBody>
      </p:sp>
      <p:sp>
        <p:nvSpPr>
          <p:cNvPr id="57" name="Oval 56"/>
          <p:cNvSpPr/>
          <p:nvPr/>
        </p:nvSpPr>
        <p:spPr>
          <a:xfrm>
            <a:off x="6446520" y="258592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65392" y="2496311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slack_notifications</a:t>
            </a:r>
          </a:p>
        </p:txBody>
      </p:sp>
      <p:sp>
        <p:nvSpPr>
          <p:cNvPr id="59" name="Oval 58"/>
          <p:cNvSpPr/>
          <p:nvPr/>
        </p:nvSpPr>
        <p:spPr>
          <a:xfrm>
            <a:off x="7703820" y="2585922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22692" y="2496311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audit_log</a:t>
            </a:r>
          </a:p>
        </p:txBody>
      </p:sp>
      <p:sp>
        <p:nvSpPr>
          <p:cNvPr id="61" name="Oval 60"/>
          <p:cNvSpPr/>
          <p:nvPr/>
        </p:nvSpPr>
        <p:spPr>
          <a:xfrm>
            <a:off x="6446520" y="2841954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65392" y="2752343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audit_anchors</a:t>
            </a:r>
          </a:p>
        </p:txBody>
      </p:sp>
      <p:sp>
        <p:nvSpPr>
          <p:cNvPr id="63" name="Oval 62"/>
          <p:cNvSpPr/>
          <p:nvPr/>
        </p:nvSpPr>
        <p:spPr>
          <a:xfrm>
            <a:off x="7703820" y="2841954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22692" y="2752343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audit.audit_events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35440" y="1874519"/>
            <a:ext cx="25146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235440" y="1874519"/>
            <a:ext cx="2514600" cy="29260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72600" y="192023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 Tight"/>
              </a:rPr>
              <a:t>Integrations &amp; Sources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64240" y="192023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Inter"/>
              </a:rPr>
              <a:t>5 tables</a:t>
            </a:r>
          </a:p>
        </p:txBody>
      </p:sp>
      <p:sp>
        <p:nvSpPr>
          <p:cNvPr id="69" name="Oval 68"/>
          <p:cNvSpPr/>
          <p:nvPr/>
        </p:nvSpPr>
        <p:spPr>
          <a:xfrm>
            <a:off x="9372600" y="2329890"/>
            <a:ext cx="54864" cy="548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91472" y="2240279"/>
            <a:ext cx="9829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integrations</a:t>
            </a:r>
          </a:p>
        </p:txBody>
      </p:sp>
      <p:sp>
        <p:nvSpPr>
          <p:cNvPr id="71" name="Oval 70"/>
          <p:cNvSpPr/>
          <p:nvPr/>
        </p:nvSpPr>
        <p:spPr>
          <a:xfrm>
            <a:off x="10492740" y="2329890"/>
            <a:ext cx="54864" cy="548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11612" y="2240279"/>
            <a:ext cx="9829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incidents_raw</a:t>
            </a:r>
          </a:p>
        </p:txBody>
      </p:sp>
      <p:sp>
        <p:nvSpPr>
          <p:cNvPr id="73" name="Oval 72"/>
          <p:cNvSpPr/>
          <p:nvPr/>
        </p:nvSpPr>
        <p:spPr>
          <a:xfrm>
            <a:off x="9372600" y="2585922"/>
            <a:ext cx="54864" cy="548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91472" y="2496311"/>
            <a:ext cx="9829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incidents</a:t>
            </a:r>
          </a:p>
        </p:txBody>
      </p:sp>
      <p:sp>
        <p:nvSpPr>
          <p:cNvPr id="75" name="Oval 74"/>
          <p:cNvSpPr/>
          <p:nvPr/>
        </p:nvSpPr>
        <p:spPr>
          <a:xfrm>
            <a:off x="10492740" y="2585922"/>
            <a:ext cx="54864" cy="548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611612" y="2496311"/>
            <a:ext cx="9829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connectors</a:t>
            </a:r>
          </a:p>
        </p:txBody>
      </p:sp>
      <p:sp>
        <p:nvSpPr>
          <p:cNvPr id="77" name="Oval 76"/>
          <p:cNvSpPr/>
          <p:nvPr/>
        </p:nvSpPr>
        <p:spPr>
          <a:xfrm>
            <a:off x="9372600" y="2841954"/>
            <a:ext cx="54864" cy="548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91472" y="2752343"/>
            <a:ext cx="9829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services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" y="3886200"/>
            <a:ext cx="2788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57200" y="3886200"/>
            <a:ext cx="2788920" cy="29260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39319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 Tight"/>
              </a:rPr>
              <a:t>LLM Spine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000" y="39319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Inter"/>
              </a:rPr>
              <a:t>6 tables</a:t>
            </a:r>
          </a:p>
        </p:txBody>
      </p:sp>
      <p:sp>
        <p:nvSpPr>
          <p:cNvPr id="83" name="Oval 82"/>
          <p:cNvSpPr/>
          <p:nvPr/>
        </p:nvSpPr>
        <p:spPr>
          <a:xfrm>
            <a:off x="594360" y="4341571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3232" y="4251960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token_budgets</a:t>
            </a:r>
          </a:p>
        </p:txBody>
      </p:sp>
      <p:sp>
        <p:nvSpPr>
          <p:cNvPr id="85" name="Oval 84"/>
          <p:cNvSpPr/>
          <p:nvPr/>
        </p:nvSpPr>
        <p:spPr>
          <a:xfrm>
            <a:off x="1851660" y="4341571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970532" y="4251960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token_ledger</a:t>
            </a:r>
          </a:p>
        </p:txBody>
      </p:sp>
      <p:sp>
        <p:nvSpPr>
          <p:cNvPr id="87" name="Oval 86"/>
          <p:cNvSpPr/>
          <p:nvPr/>
        </p:nvSpPr>
        <p:spPr>
          <a:xfrm>
            <a:off x="594360" y="4597603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3232" y="4507992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code_embeddings</a:t>
            </a:r>
          </a:p>
        </p:txBody>
      </p:sp>
      <p:sp>
        <p:nvSpPr>
          <p:cNvPr id="89" name="Oval 88"/>
          <p:cNvSpPr/>
          <p:nvPr/>
        </p:nvSpPr>
        <p:spPr>
          <a:xfrm>
            <a:off x="1851660" y="4597603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970532" y="4507992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prompt_versions</a:t>
            </a:r>
          </a:p>
        </p:txBody>
      </p:sp>
      <p:sp>
        <p:nvSpPr>
          <p:cNvPr id="91" name="Oval 90"/>
          <p:cNvSpPr/>
          <p:nvPr/>
        </p:nvSpPr>
        <p:spPr>
          <a:xfrm>
            <a:off x="594360" y="4853635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3232" y="4764024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memory_documents</a:t>
            </a:r>
          </a:p>
        </p:txBody>
      </p:sp>
      <p:sp>
        <p:nvSpPr>
          <p:cNvPr id="93" name="Oval 92"/>
          <p:cNvSpPr/>
          <p:nvPr/>
        </p:nvSpPr>
        <p:spPr>
          <a:xfrm>
            <a:off x="1851660" y="4853635"/>
            <a:ext cx="54864" cy="548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70532" y="4764024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feedback_examples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383280" y="3886200"/>
            <a:ext cx="2788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3383280" y="3886200"/>
            <a:ext cx="2788920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520440" y="39319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 Tight"/>
              </a:rPr>
              <a:t>Evaluation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12080" y="39319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Inter"/>
              </a:rPr>
              <a:t>3 tables</a:t>
            </a:r>
          </a:p>
        </p:txBody>
      </p:sp>
      <p:sp>
        <p:nvSpPr>
          <p:cNvPr id="99" name="Oval 98"/>
          <p:cNvSpPr/>
          <p:nvPr/>
        </p:nvSpPr>
        <p:spPr>
          <a:xfrm>
            <a:off x="3520440" y="4341571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639312" y="4251960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eval_runs</a:t>
            </a:r>
          </a:p>
        </p:txBody>
      </p:sp>
      <p:sp>
        <p:nvSpPr>
          <p:cNvPr id="101" name="Oval 100"/>
          <p:cNvSpPr/>
          <p:nvPr/>
        </p:nvSpPr>
        <p:spPr>
          <a:xfrm>
            <a:off x="4777740" y="4341571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896612" y="4251960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eval_transcripts</a:t>
            </a:r>
          </a:p>
        </p:txBody>
      </p:sp>
      <p:sp>
        <p:nvSpPr>
          <p:cNvPr id="103" name="Oval 102"/>
          <p:cNvSpPr/>
          <p:nvPr/>
        </p:nvSpPr>
        <p:spPr>
          <a:xfrm>
            <a:off x="3520440" y="4597603"/>
            <a:ext cx="54864" cy="548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39312" y="4507992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nasa_tlx_responses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309360" y="3886200"/>
            <a:ext cx="2788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6309360" y="3886200"/>
            <a:ext cx="2788920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46520" y="39319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 Tight"/>
              </a:rPr>
              <a:t>Billing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38160" y="39319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Inter"/>
              </a:rPr>
              <a:t>5 tables</a:t>
            </a:r>
          </a:p>
        </p:txBody>
      </p:sp>
      <p:sp>
        <p:nvSpPr>
          <p:cNvPr id="109" name="Oval 108"/>
          <p:cNvSpPr/>
          <p:nvPr/>
        </p:nvSpPr>
        <p:spPr>
          <a:xfrm>
            <a:off x="6446520" y="4341571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565392" y="4251960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payment_methods</a:t>
            </a:r>
          </a:p>
        </p:txBody>
      </p:sp>
      <p:sp>
        <p:nvSpPr>
          <p:cNvPr id="111" name="Oval 110"/>
          <p:cNvSpPr/>
          <p:nvPr/>
        </p:nvSpPr>
        <p:spPr>
          <a:xfrm>
            <a:off x="7703820" y="4341571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822692" y="4251960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invoices</a:t>
            </a:r>
          </a:p>
        </p:txBody>
      </p:sp>
      <p:sp>
        <p:nvSpPr>
          <p:cNvPr id="113" name="Oval 112"/>
          <p:cNvSpPr/>
          <p:nvPr/>
        </p:nvSpPr>
        <p:spPr>
          <a:xfrm>
            <a:off x="6446520" y="4597603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565392" y="4507992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usage_records</a:t>
            </a:r>
          </a:p>
        </p:txBody>
      </p:sp>
      <p:sp>
        <p:nvSpPr>
          <p:cNvPr id="115" name="Oval 114"/>
          <p:cNvSpPr/>
          <p:nvPr/>
        </p:nvSpPr>
        <p:spPr>
          <a:xfrm>
            <a:off x="7703820" y="4597603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822692" y="4507992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entitlements</a:t>
            </a:r>
          </a:p>
        </p:txBody>
      </p:sp>
      <p:sp>
        <p:nvSpPr>
          <p:cNvPr id="117" name="Oval 116"/>
          <p:cNvSpPr/>
          <p:nvPr/>
        </p:nvSpPr>
        <p:spPr>
          <a:xfrm>
            <a:off x="6446520" y="4853635"/>
            <a:ext cx="54864" cy="548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65392" y="4764024"/>
            <a:ext cx="11201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stripe_events_processed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235440" y="3886200"/>
            <a:ext cx="25146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9235440" y="3886200"/>
            <a:ext cx="2514600" cy="29260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372600" y="39319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 Tight"/>
              </a:rPr>
              <a:t>Org Structure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064240" y="39319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Inter"/>
              </a:rPr>
              <a:t>5 tables</a:t>
            </a:r>
          </a:p>
        </p:txBody>
      </p:sp>
      <p:sp>
        <p:nvSpPr>
          <p:cNvPr id="123" name="Oval 122"/>
          <p:cNvSpPr/>
          <p:nvPr/>
        </p:nvSpPr>
        <p:spPr>
          <a:xfrm>
            <a:off x="9372600" y="4341571"/>
            <a:ext cx="54864" cy="548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491472" y="4251960"/>
            <a:ext cx="9829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teams</a:t>
            </a:r>
          </a:p>
        </p:txBody>
      </p:sp>
      <p:sp>
        <p:nvSpPr>
          <p:cNvPr id="125" name="Oval 124"/>
          <p:cNvSpPr/>
          <p:nvPr/>
        </p:nvSpPr>
        <p:spPr>
          <a:xfrm>
            <a:off x="10492740" y="4341571"/>
            <a:ext cx="54864" cy="548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611612" y="4251960"/>
            <a:ext cx="9829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team_members</a:t>
            </a:r>
          </a:p>
        </p:txBody>
      </p:sp>
      <p:sp>
        <p:nvSpPr>
          <p:cNvPr id="127" name="Oval 126"/>
          <p:cNvSpPr/>
          <p:nvPr/>
        </p:nvSpPr>
        <p:spPr>
          <a:xfrm>
            <a:off x="9372600" y="4597603"/>
            <a:ext cx="54864" cy="548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491472" y="4507992"/>
            <a:ext cx="9829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invite_codes</a:t>
            </a:r>
          </a:p>
        </p:txBody>
      </p:sp>
      <p:sp>
        <p:nvSpPr>
          <p:cNvPr id="129" name="Oval 128"/>
          <p:cNvSpPr/>
          <p:nvPr/>
        </p:nvSpPr>
        <p:spPr>
          <a:xfrm>
            <a:off x="10492740" y="4597603"/>
            <a:ext cx="54864" cy="548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11612" y="4507992"/>
            <a:ext cx="9829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clerk_webhook_events</a:t>
            </a:r>
          </a:p>
        </p:txBody>
      </p:sp>
      <p:sp>
        <p:nvSpPr>
          <p:cNvPr id="131" name="Oval 130"/>
          <p:cNvSpPr/>
          <p:nvPr/>
        </p:nvSpPr>
        <p:spPr>
          <a:xfrm>
            <a:off x="9372600" y="4853635"/>
            <a:ext cx="54864" cy="548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491472" y="4764024"/>
            <a:ext cx="9829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B1220"/>
                </a:solidFill>
                <a:latin typeface="JetBrains Mono"/>
              </a:rPr>
              <a:t>waitlist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57200" y="589788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50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Latest migration: 0020_phase8_public_beta · 25 up-migrations on control-plane · all RLS-tested in 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"/>
              </a:rPr>
              <a:t>NEXIS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2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Project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Inter"/>
              </a:rPr>
              <a:t>ERD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6 /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50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220"/>
                </a:solidFill>
                <a:latin typeface="Inter Tight"/>
              </a:rPr>
              <a:t>Entity-relationship diagram — core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Inter"/>
              </a:rPr>
              <a:t>Every tenant entity FK to organizations via org_id, enforced at the DB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783080"/>
            <a:ext cx="18288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60" y="1783080"/>
            <a:ext cx="1828800" cy="292608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819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organizations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8920"/>
            <a:ext cx="16459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1645920" cy="29260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254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788920"/>
            <a:ext cx="16459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77440" y="2788920"/>
            <a:ext cx="1645920" cy="29260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8254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org_members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788920"/>
            <a:ext cx="16459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06240" y="2788920"/>
            <a:ext cx="1645920" cy="29260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8254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api_keys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788920"/>
            <a:ext cx="16459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5040" y="2788920"/>
            <a:ext cx="1645920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8254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workspaces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2788920"/>
            <a:ext cx="16459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0" y="2788920"/>
            <a:ext cx="1645920" cy="29260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8254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integrations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788920"/>
            <a:ext cx="16459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92640" y="2788920"/>
            <a:ext cx="1645920" cy="292608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28254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incidents_raw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371600.0" y="2377440"/>
            <a:ext cx="4709160.0" cy="41148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200400.0" y="2377440"/>
            <a:ext cx="2880360.0" cy="41148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029200.0" y="2377440"/>
            <a:ext cx="1051560.0" cy="41148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80760.0" y="2377440"/>
            <a:ext cx="777240.0" cy="41148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80760.0" y="2377440"/>
            <a:ext cx="2606040.0" cy="41148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80760.0" y="2377440"/>
            <a:ext cx="4434840.0" cy="41148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212080" y="379476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212080" y="379476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0" y="38313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workflow_runs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080760.0" y="3291840"/>
            <a:ext cx="777240.0" cy="50292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48640" y="480060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480060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8371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activity_events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68880" y="480060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468880" y="480060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80" y="48371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agent_runs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480060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389120" y="480060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48371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token_ledger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480060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09360" y="480060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48371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approval_decisions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480060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29600" y="480060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48371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patch_candidates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49840" y="480060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149840" y="480060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49840" y="48371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validation_runs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1417320.0" y="4297680"/>
            <a:ext cx="4663440.0" cy="50292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3337560.0" y="4297680"/>
            <a:ext cx="2743200.0" cy="50292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257800.0" y="4297680"/>
            <a:ext cx="822960.0" cy="50292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080760.0" y="4297680"/>
            <a:ext cx="1097280.0" cy="50292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080760.0" y="4297680"/>
            <a:ext cx="3017520.0" cy="50292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080760.0" y="4297680"/>
            <a:ext cx="4937760.0" cy="50292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48640" y="580644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48640" y="580644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84301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invoices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468880" y="580644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468880" y="580644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68880" y="584301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payment_methods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389120" y="580644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389120" y="580644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89120" y="584301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usage_records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09360" y="580644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309360" y="580644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584301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eval_runs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29600" y="580644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229600" y="580644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9600" y="584301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code_embeddings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49840" y="5806440"/>
            <a:ext cx="1737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0149840" y="5806440"/>
            <a:ext cx="1737360" cy="29260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149840" y="584301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 Tight"/>
              </a:rPr>
              <a:t>nasa_tlx_resp.</a:t>
            </a:r>
          </a:p>
        </p:txBody>
      </p:sp>
      <p:cxnSp>
        <p:nvCxnSpPr>
          <p:cNvPr id="84" name="Connector 83"/>
          <p:cNvCxnSpPr/>
          <p:nvPr/>
        </p:nvCxnSpPr>
        <p:spPr>
          <a:xfrm flipH="1">
            <a:off x="1417320.0" y="2377440"/>
            <a:ext cx="4663440.0" cy="3429000"/>
          </a:xfrm>
          <a:prstGeom prst="line">
            <a:avLst/>
          </a:prstGeom>
          <a:ln w="11430">
            <a:solidFill>
              <a:srgbClr val="BFC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3337560.0" y="2377440"/>
            <a:ext cx="2743200.0" cy="3429000"/>
          </a:xfrm>
          <a:prstGeom prst="line">
            <a:avLst/>
          </a:prstGeom>
          <a:ln w="11430">
            <a:solidFill>
              <a:srgbClr val="BFC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5257800.0" y="2377440"/>
            <a:ext cx="822960.0" cy="3429000"/>
          </a:xfrm>
          <a:prstGeom prst="line">
            <a:avLst/>
          </a:prstGeom>
          <a:ln w="11430">
            <a:solidFill>
              <a:srgbClr val="BFC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080760.0" y="2377440"/>
            <a:ext cx="1097280.0" cy="3429000"/>
          </a:xfrm>
          <a:prstGeom prst="line">
            <a:avLst/>
          </a:prstGeom>
          <a:ln w="11430">
            <a:solidFill>
              <a:srgbClr val="BFC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080760.0" y="2377440"/>
            <a:ext cx="3017520.0" cy="3429000"/>
          </a:xfrm>
          <a:prstGeom prst="line">
            <a:avLst/>
          </a:prstGeom>
          <a:ln w="11430">
            <a:solidFill>
              <a:srgbClr val="BFC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080760.0" y="2377440"/>
            <a:ext cx="4937760.0" cy="3429000"/>
          </a:xfrm>
          <a:prstGeom prst="line">
            <a:avLst/>
          </a:prstGeom>
          <a:ln w="11430">
            <a:solidFill>
              <a:srgbClr val="BFC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5257800.0" y="3291840"/>
            <a:ext cx="1600200.0" cy="2514600"/>
          </a:xfrm>
          <a:prstGeom prst="line">
            <a:avLst/>
          </a:prstGeom>
          <a:ln w="11430">
            <a:solidFill>
              <a:srgbClr val="BFC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457200" y="2468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Lines = foreign-key relationships  ·  arrows simplified to vertical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"/>
              </a:rPr>
              <a:t>NEXIS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2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Project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Inter"/>
              </a:rP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7 /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50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220"/>
                </a:solidFill>
                <a:latin typeface="Inter Tight"/>
              </a:rPr>
              <a:t>RecoveryPipeline workflow — Temporal-orchestrated DAG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Inter"/>
              </a:rPr>
              <a:t>Sequential L2 → sequential L1 → parallel DevOps∥DataEng → approval join → validate → 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Sentinel</a:t>
            </a:r>
          </a:p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Detect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24028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240487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Pathfinder</a:t>
            </a:r>
          </a:p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Diagnose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224028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240487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Synthesiser</a:t>
            </a:r>
          </a:p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24028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240487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Architect</a:t>
            </a:r>
          </a:p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24028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240487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Backend</a:t>
            </a:r>
          </a:p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Codegen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224028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40487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QA</a:t>
            </a:r>
          </a:p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TestGen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20240" y="2583180.0"/>
            <a:ext cx="320040" cy="0.0"/>
          </a:xfrm>
          <a:prstGeom prst="line">
            <a:avLst/>
          </a:prstGeom>
          <a:ln w="152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03320" y="2583180.0"/>
            <a:ext cx="320040" cy="0.0"/>
          </a:xfrm>
          <a:prstGeom prst="line">
            <a:avLst/>
          </a:prstGeom>
          <a:ln w="152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86400" y="2583180.0"/>
            <a:ext cx="320040" cy="0.0"/>
          </a:xfrm>
          <a:prstGeom prst="line">
            <a:avLst/>
          </a:prstGeom>
          <a:ln w="152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69480" y="2583180.0"/>
            <a:ext cx="320040" cy="0.0"/>
          </a:xfrm>
          <a:prstGeom prst="line">
            <a:avLst/>
          </a:prstGeom>
          <a:ln w="152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52560" y="2583180.0"/>
            <a:ext cx="320040" cy="0.0"/>
          </a:xfrm>
          <a:prstGeom prst="line">
            <a:avLst/>
          </a:prstGeom>
          <a:ln w="152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926080" y="370332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38679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DevOps</a:t>
            </a:r>
          </a:p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Pipeline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370332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38679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DataEng</a:t>
            </a:r>
          </a:p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Migrations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70332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BFCFE8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8679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ApprovalGate</a:t>
            </a:r>
          </a:p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Route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370332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8679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validator</a:t>
            </a:r>
          </a:p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sandbox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370332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38679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gitops</a:t>
            </a:r>
          </a:p>
          <a:p>
            <a:pPr algn="ctr"/>
            <a:r>
              <a:rPr sz="1100" b="1" i="0">
                <a:solidFill>
                  <a:srgbClr val="0B1220"/>
                </a:solidFill>
                <a:latin typeface="Inter Tight"/>
              </a:rPr>
              <a:t>open PR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2926080" y="2583180.0"/>
            <a:ext cx="7909560" cy="1463040.0"/>
          </a:xfrm>
          <a:prstGeom prst="line">
            <a:avLst/>
          </a:prstGeom>
          <a:ln w="1397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709160" y="2583180.0"/>
            <a:ext cx="6126480" cy="1463040.0"/>
          </a:xfrm>
          <a:prstGeom prst="line">
            <a:avLst/>
          </a:prstGeom>
          <a:ln w="1397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389120" y="4046220.0"/>
            <a:ext cx="2103120" cy="0.0"/>
          </a:xfrm>
          <a:prstGeom prst="line">
            <a:avLst/>
          </a:prstGeom>
          <a:ln w="1397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172200" y="4046220.0"/>
            <a:ext cx="320040" cy="0.0"/>
          </a:xfrm>
          <a:prstGeom prst="line">
            <a:avLst/>
          </a:prstGeom>
          <a:ln w="1397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955280" y="4046220.0"/>
            <a:ext cx="320040" cy="0.0"/>
          </a:xfrm>
          <a:prstGeom prst="line">
            <a:avLst/>
          </a:prstGeom>
          <a:ln w="152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738360" y="4046220.0"/>
            <a:ext cx="320040" cy="0.0"/>
          </a:xfrm>
          <a:prstGeom prst="line">
            <a:avLst/>
          </a:prstGeom>
          <a:ln w="1524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57200" y="49377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029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220"/>
                </a:solidFill>
                <a:latin typeface="Inter"/>
              </a:rPr>
              <a:t>Severity routing at ApprovalGate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3492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JetBrains Mono"/>
              </a:rPr>
              <a:t>low    → auto-approved</a:t>
            </a:r>
          </a:p>
          <a:p>
            <a:pPr algn="l"/>
            <a:r>
              <a:rPr sz="1100" b="0" i="0">
                <a:solidFill>
                  <a:srgbClr val="0B1220"/>
                </a:solidFill>
                <a:latin typeface="JetBrains Mono"/>
              </a:rPr>
              <a:t>medium → 120 s signal/timer race</a:t>
            </a:r>
          </a:p>
          <a:p>
            <a:pPr algn="l"/>
            <a:r>
              <a:rPr sz="1100" b="0" i="0">
                <a:solidFill>
                  <a:srgbClr val="0B1220"/>
                </a:solidFill>
                <a:latin typeface="JetBrains Mono"/>
              </a:rPr>
              <a:t>high   → human required (no timer)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4937760"/>
            <a:ext cx="5577840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5029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220"/>
                </a:solidFill>
                <a:latin typeface="Inter"/>
              </a:rPr>
              <a:t>Activity timeouts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3492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JetBrains Mono"/>
              </a:rPr>
              <a:t>stub        30 s start-to-close · 3 retries</a:t>
            </a:r>
          </a:p>
          <a:p>
            <a:pPr algn="l"/>
            <a:r>
              <a:rPr sz="1100" b="0" i="0">
                <a:solidFill>
                  <a:srgbClr val="0B1220"/>
                </a:solidFill>
                <a:latin typeface="JetBrains Mono"/>
              </a:rPr>
              <a:t>LLM-bound   5 min  · 2 retries</a:t>
            </a:r>
          </a:p>
          <a:p>
            <a:pPr algn="l"/>
            <a:r>
              <a:rPr sz="1100" b="0" i="0">
                <a:solidFill>
                  <a:srgbClr val="0B1220"/>
                </a:solidFill>
                <a:latin typeface="JetBrains Mono"/>
              </a:rPr>
              <a:t>recorder    5 s    · 3 retries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"/>
              </a:rPr>
              <a:t>NEXIS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2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Project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Inter"/>
              </a:rPr>
              <a:t>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8 /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50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220"/>
                </a:solidFill>
                <a:latin typeface="Inter Tight"/>
              </a:rPr>
              <a:t>Phase progress — 8 of 9 phases shipped to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Inter"/>
              </a:rPr>
              <a:t>Two-day autonomous build sprint · all eight phases on main as of 2026-05-13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1965960"/>
            <a:ext cx="0" cy="429768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130552" y="2011679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1220"/>
                </a:solidFill>
                <a:latin typeface="Inter Tight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965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Foundations + landing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993391"/>
            <a:ext cx="1371600" cy="2286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93391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shipped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96596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Next.js + docker-compose + Caddy TLS</a:t>
            </a:r>
          </a:p>
        </p:txBody>
      </p:sp>
      <p:sp>
        <p:nvSpPr>
          <p:cNvPr id="18" name="Oval 17"/>
          <p:cNvSpPr/>
          <p:nvPr/>
        </p:nvSpPr>
        <p:spPr>
          <a:xfrm>
            <a:off x="2130552" y="2450591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048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1220"/>
                </a:solidFill>
                <a:latin typeface="Inter Tight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4048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Auth + RLS + OTel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432303"/>
            <a:ext cx="1371600" cy="2286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432303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shipped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40487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WorkOS stub + 34-table RLS + Grafana stack</a:t>
            </a:r>
          </a:p>
        </p:txBody>
      </p:sp>
      <p:sp>
        <p:nvSpPr>
          <p:cNvPr id="24" name="Oval 23"/>
          <p:cNvSpPr/>
          <p:nvPr/>
        </p:nvSpPr>
        <p:spPr>
          <a:xfrm>
            <a:off x="2130552" y="2889503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84378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1220"/>
                </a:solidFill>
                <a:latin typeface="Inter Tight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28437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Console + integrations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2871215"/>
            <a:ext cx="1371600" cy="2286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871215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shipped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84378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8 surfaces + GitHub App + Sentry webhook</a:t>
            </a:r>
          </a:p>
        </p:txBody>
      </p:sp>
      <p:sp>
        <p:nvSpPr>
          <p:cNvPr id="30" name="Oval 29"/>
          <p:cNvSpPr/>
          <p:nvPr/>
        </p:nvSpPr>
        <p:spPr>
          <a:xfrm>
            <a:off x="2130552" y="3328415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8269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1220"/>
                </a:solidFill>
                <a:latin typeface="Inter Tight"/>
              </a:rPr>
              <a:t>Phase 3.5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328269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Workspaces + billing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3310127"/>
            <a:ext cx="1371600" cy="2286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310127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shipped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282696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Onboarding wizard + Stripe-style mock</a:t>
            </a:r>
          </a:p>
        </p:txBody>
      </p:sp>
      <p:sp>
        <p:nvSpPr>
          <p:cNvPr id="36" name="Oval 35"/>
          <p:cNvSpPr/>
          <p:nvPr/>
        </p:nvSpPr>
        <p:spPr>
          <a:xfrm>
            <a:off x="2130552" y="376732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7216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1220"/>
                </a:solidFill>
                <a:latin typeface="Inter Tight"/>
              </a:rPr>
              <a:t>Phase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3721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Temporal + sandbox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3749040"/>
            <a:ext cx="1371600" cy="2286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37490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shipped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372160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RecoveryPipeline DAG + validator sandbox</a:t>
            </a:r>
          </a:p>
        </p:txBody>
      </p:sp>
      <p:sp>
        <p:nvSpPr>
          <p:cNvPr id="42" name="Oval 41"/>
          <p:cNvSpPr/>
          <p:nvPr/>
        </p:nvSpPr>
        <p:spPr>
          <a:xfrm>
            <a:off x="2130552" y="420624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1605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1220"/>
                </a:solidFill>
                <a:latin typeface="Inter Tight"/>
              </a:rPr>
              <a:t>Phase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4160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L1 agents + LLM spine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29400" y="4187952"/>
            <a:ext cx="1371600" cy="2286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187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shipped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1605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Architect/Backend/QA/DevOps/DataEng + pgvector</a:t>
            </a:r>
          </a:p>
        </p:txBody>
      </p:sp>
      <p:sp>
        <p:nvSpPr>
          <p:cNvPr id="48" name="Oval 47"/>
          <p:cNvSpPr/>
          <p:nvPr/>
        </p:nvSpPr>
        <p:spPr>
          <a:xfrm>
            <a:off x="2130552" y="4645151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599431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1220"/>
                </a:solidFill>
                <a:latin typeface="Inter Tight"/>
              </a:rPr>
              <a:t>Phase 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4599431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L2 + Approval + GitOps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9400" y="4626864"/>
            <a:ext cx="1371600" cy="2286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46268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shipped · MVP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599431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Sentinel + Pathfinder + Synthesiser + gate</a:t>
            </a:r>
          </a:p>
        </p:txBody>
      </p:sp>
      <p:sp>
        <p:nvSpPr>
          <p:cNvPr id="54" name="Oval 53"/>
          <p:cNvSpPr/>
          <p:nvPr/>
        </p:nvSpPr>
        <p:spPr>
          <a:xfrm>
            <a:off x="2130552" y="508406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03834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1220"/>
                </a:solidFill>
                <a:latin typeface="Inter Tight"/>
              </a:rPr>
              <a:t>Phase 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23160" y="503834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WorkOS + Stripe wiring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29400" y="5065776"/>
            <a:ext cx="1371600" cy="2286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9400" y="506577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scaffolded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503834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Real-provider gated behind env flags</a:t>
            </a:r>
          </a:p>
        </p:txBody>
      </p:sp>
      <p:sp>
        <p:nvSpPr>
          <p:cNvPr id="60" name="Oval 59"/>
          <p:cNvSpPr/>
          <p:nvPr/>
        </p:nvSpPr>
        <p:spPr>
          <a:xfrm>
            <a:off x="2130552" y="552297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47725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1220"/>
                </a:solidFill>
                <a:latin typeface="Inter Tight"/>
              </a:rPr>
              <a:t>Phase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23160" y="547725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Public beta + docs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629400" y="5504688"/>
            <a:ext cx="1371600" cy="2286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9400" y="550468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shipped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5477256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Nextra docs + Shepherd tour + NASA-TLX</a:t>
            </a:r>
          </a:p>
        </p:txBody>
      </p:sp>
      <p:sp>
        <p:nvSpPr>
          <p:cNvPr id="66" name="Oval 65"/>
          <p:cNvSpPr/>
          <p:nvPr/>
        </p:nvSpPr>
        <p:spPr>
          <a:xfrm>
            <a:off x="2130552" y="5961888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9161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B1220"/>
                </a:solidFill>
                <a:latin typeface="Inter Tight"/>
              </a:rPr>
              <a:t>Phase 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23160" y="5916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Thesis + pilot + defence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29400" y="5943600"/>
            <a:ext cx="1371600" cy="2286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29400" y="59436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in flight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591616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Plan exists · activated this week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"/>
              </a:rPr>
              <a:t>NEXIS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2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Project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Inter"/>
              </a:rPr>
              <a:t>Build 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9 /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50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220"/>
                </a:solidFill>
                <a:latin typeface="Inter Tight"/>
              </a:rPr>
              <a:t>Build stats —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Inter"/>
              </a:rPr>
              <a:t>Snapshot of the main branch as of 2026-05-14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19"/>
            <a:ext cx="269747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09728" cy="132588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5739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3B82F6"/>
                </a:solidFill>
                <a:latin typeface="Inter Tight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cooperating LLM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874519"/>
            <a:ext cx="269747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46120" y="1874519"/>
            <a:ext cx="109728" cy="132588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05739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3B82F6"/>
                </a:solidFill>
                <a:latin typeface="Inter Tight"/>
              </a:rPr>
              <a:t>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Postgres tables (RLS FORCE)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874519"/>
            <a:ext cx="269747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0" y="1874519"/>
            <a:ext cx="109728" cy="132588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05739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3B82F6"/>
                </a:solidFill>
                <a:latin typeface="Inter Tight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control-plane migrations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59" y="1874519"/>
            <a:ext cx="269747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23959" y="1874519"/>
            <a:ext cx="109728" cy="132588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59" y="205739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0B981"/>
                </a:solidFill>
                <a:latin typeface="Inter Tigh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274319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backend services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91839"/>
            <a:ext cx="269747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3291839"/>
            <a:ext cx="109728" cy="132588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4747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0B981"/>
                </a:solidFill>
                <a:latin typeface="Inter Tight"/>
              </a:rPr>
              <a:t>287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6051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Go source files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3291839"/>
            <a:ext cx="269747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46120" y="3291839"/>
            <a:ext cx="109728" cy="132588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4747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0B981"/>
                </a:solidFill>
                <a:latin typeface="Inter Tight"/>
              </a:rPr>
              <a:t>47k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16051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lines of Go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3291839"/>
            <a:ext cx="269747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0" y="3291839"/>
            <a:ext cx="109728" cy="13258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4747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Inter Tight"/>
              </a:rPr>
              <a:t>232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16051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TS / TSX files (web + ui)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23959" y="3291839"/>
            <a:ext cx="269747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823959" y="3291839"/>
            <a:ext cx="109728" cy="13258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59" y="3474719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Inter Tight"/>
              </a:rPr>
              <a:t>64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59" y="416051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Go test files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709160"/>
            <a:ext cx="269747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4709160"/>
            <a:ext cx="109728" cy="132588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89204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F4444"/>
                </a:solidFill>
                <a:latin typeface="Inter Tight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577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docker-compose services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46120" y="4709160"/>
            <a:ext cx="269747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246120" y="4709160"/>
            <a:ext cx="109728" cy="132588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0" y="489204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F4444"/>
                </a:solidFill>
                <a:latin typeface="Inter Tight"/>
              </a:rPr>
              <a:t>52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5577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commits this sprint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5040" y="4709160"/>
            <a:ext cx="269747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035040" y="4709160"/>
            <a:ext cx="109728" cy="13258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489204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220"/>
                </a:solidFill>
                <a:latin typeface="Inter Tight"/>
              </a:rPr>
              <a:t>8 / 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5577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phases shipped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23959" y="4709160"/>
            <a:ext cx="269747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823959" y="4709160"/>
            <a:ext cx="109728" cy="13258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59" y="489204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220"/>
                </a:solidFill>
                <a:latin typeface="Inter Tight"/>
              </a:rPr>
              <a:t>2 days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59" y="5577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autonomous build sprint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"/>
              </a:rPr>
              <a:t>NEXIS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2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Project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Inter"/>
              </a:rPr>
              <a:t>Work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10 /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50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220"/>
                </a:solidFill>
                <a:latin typeface="Inter Tight"/>
              </a:rPr>
              <a:t>Work shipped this reporting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Inter"/>
              </a:rPr>
              <a:t>Highlights from the last 52 commits — surfaces, plumbing, observability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146304" cy="21031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Inter Tight"/>
              </a:rPr>
              <a:t>Console + UX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5877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28-provider integration catalog with brand logos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29535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34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Live-demo scenario library + recharts dashboards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31927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00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Onboarding wizard with provisioning animation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368503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566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Shepherd in-app tour + NASA-TLX widget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92024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1920240"/>
            <a:ext cx="146304" cy="21031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57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Inter Tight"/>
              </a:rPr>
              <a:t>Backend + agents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25877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L1 agents (5) calling LLM Provider iface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29535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834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L2 agents (Sentinel, Pathfinder, Synthesiser)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331927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200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ApprovalGate signal/timer race + Slack notifier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368503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566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L1 stub fallback for keyless demos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16052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4160520"/>
            <a:ext cx="146304" cy="21031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297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Inter Tight"/>
              </a:rPr>
              <a:t>Platform + ops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482803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709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RLS on every tenant table + CI fuzzer</a:t>
            </a:r>
          </a:p>
        </p:txBody>
      </p:sp>
      <p:sp>
        <p:nvSpPr>
          <p:cNvPr id="38" name="Oval 37"/>
          <p:cNvSpPr/>
          <p:nvPr/>
        </p:nvSpPr>
        <p:spPr>
          <a:xfrm>
            <a:off x="822960" y="519379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074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Audit hash-chain + nightly anchor</a:t>
            </a:r>
          </a:p>
        </p:txBody>
      </p:sp>
      <p:sp>
        <p:nvSpPr>
          <p:cNvPr id="40" name="Oval 39"/>
          <p:cNvSpPr/>
          <p:nvPr/>
        </p:nvSpPr>
        <p:spPr>
          <a:xfrm>
            <a:off x="822960" y="55595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440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OTel pipeline → Grafana / Loki / Tempo</a:t>
            </a:r>
          </a:p>
        </p:txBody>
      </p:sp>
      <p:sp>
        <p:nvSpPr>
          <p:cNvPr id="42" name="Oval 41"/>
          <p:cNvSpPr/>
          <p:nvPr/>
        </p:nvSpPr>
        <p:spPr>
          <a:xfrm>
            <a:off x="822960" y="59253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806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System-health page wired to real probes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160520"/>
            <a:ext cx="5577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17920" y="4160520"/>
            <a:ext cx="146304" cy="21031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4297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Inter Tight"/>
              </a:rPr>
              <a:t>Data + persistence</a:t>
            </a:r>
          </a:p>
        </p:txBody>
      </p:sp>
      <p:sp>
        <p:nvSpPr>
          <p:cNvPr id="47" name="Oval 46"/>
          <p:cNvSpPr/>
          <p:nvPr/>
        </p:nvSpPr>
        <p:spPr>
          <a:xfrm>
            <a:off x="6583680" y="482803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4709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20 forward migrations · 34 tables</a:t>
            </a:r>
          </a:p>
        </p:txBody>
      </p:sp>
      <p:sp>
        <p:nvSpPr>
          <p:cNvPr id="49" name="Oval 48"/>
          <p:cNvSpPr/>
          <p:nvPr/>
        </p:nvSpPr>
        <p:spPr>
          <a:xfrm>
            <a:off x="6583680" y="519379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0" y="5074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pgvector RAG corpus for Backend agent</a:t>
            </a:r>
          </a:p>
        </p:txBody>
      </p:sp>
      <p:sp>
        <p:nvSpPr>
          <p:cNvPr id="51" name="Oval 50"/>
          <p:cNvSpPr/>
          <p:nvPr/>
        </p:nvSpPr>
        <p:spPr>
          <a:xfrm>
            <a:off x="6583680" y="55595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0" y="5440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Token ledger + monthly budget enforcer</a:t>
            </a:r>
          </a:p>
        </p:txBody>
      </p:sp>
      <p:sp>
        <p:nvSpPr>
          <p:cNvPr id="53" name="Oval 52"/>
          <p:cNvSpPr/>
          <p:nvPr/>
        </p:nvSpPr>
        <p:spPr>
          <a:xfrm>
            <a:off x="6583680" y="59253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5806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First-class self-healing projects schema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220"/>
                </a:solidFill>
                <a:latin typeface="Inter"/>
              </a:rPr>
              <a:t>NEXIS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20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Project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Inter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Inter"/>
              </a:rPr>
              <a:t>11 / 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508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220"/>
                </a:solidFill>
                <a:latin typeface="Inter Tight"/>
              </a:rPr>
              <a:t>Outstanding work · risks ·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Inter"/>
              </a:rPr>
              <a:t>Phase 9 = thesis chapters 1–4 + pilot tenant activation + viva preparation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55778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146304" cy="402336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Inter Tight"/>
              </a:rPr>
              <a:t>Next steps (Phase 9)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66090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514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Provision real OpenAI + WorkOS + Stripe keys (env-gated)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11810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Investigate causal-inference container unhealthy state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57530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Recruit 5 pilot tenants from waitlist (target end-of-month)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03250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886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Run 30-fault × 5-seed × 2-provider eval benchmark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48970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43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Begin NASA-TLX user study (ethics approved Week 0)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94690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Draft thesis chapters 1–4 (intro · system · eval · discussion)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40410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220"/>
                </a:solidFill>
                <a:latin typeface="Inter"/>
              </a:rPr>
              <a:t>Defence-rehearsal slot booked at Phase 6 completion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920240"/>
            <a:ext cx="55778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72200" y="1920240"/>
            <a:ext cx="146304" cy="40233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Inter Tight"/>
              </a:rPr>
              <a:t>Open risks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267919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5146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Scope creep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7706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Phase scope contractual · backlog otherwise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322783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063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LLM cost runaway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3192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Pre-call budget + Ollama path mitigates</a:t>
            </a:r>
          </a:p>
        </p:txBody>
      </p:sp>
      <p:sp>
        <p:nvSpPr>
          <p:cNvPr id="37" name="Oval 36"/>
          <p:cNvSpPr/>
          <p:nvPr/>
        </p:nvSpPr>
        <p:spPr>
          <a:xfrm>
            <a:off x="6492240" y="377647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611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Validator escape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8679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Modal swap in Phase 7 · sandbox network=none</a:t>
            </a:r>
          </a:p>
        </p:txBody>
      </p:sp>
      <p:sp>
        <p:nvSpPr>
          <p:cNvPr id="40" name="Oval 39"/>
          <p:cNvSpPr/>
          <p:nvPr/>
        </p:nvSpPr>
        <p:spPr>
          <a:xfrm>
            <a:off x="6492240" y="43251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160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Multi-tenant leak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4165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RLS FORCE + CI fuzzer covers every table</a:t>
            </a:r>
          </a:p>
        </p:txBody>
      </p:sp>
      <p:sp>
        <p:nvSpPr>
          <p:cNvPr id="43" name="Oval 42"/>
          <p:cNvSpPr/>
          <p:nvPr/>
        </p:nvSpPr>
        <p:spPr>
          <a:xfrm>
            <a:off x="6492240" y="487375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709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Design-partner ghosting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9651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Oversubscribe to 5 partners; live demo as fallback</a:t>
            </a:r>
          </a:p>
        </p:txBody>
      </p:sp>
      <p:sp>
        <p:nvSpPr>
          <p:cNvPr id="46" name="Oval 45"/>
          <p:cNvSpPr/>
          <p:nvPr/>
        </p:nvSpPr>
        <p:spPr>
          <a:xfrm>
            <a:off x="6492240" y="542239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5257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220"/>
                </a:solidFill>
                <a:latin typeface="Inter Tight"/>
              </a:rPr>
              <a:t>Defence scheduling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55138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12-week lead booked · Phase 9 buffer absorbs slip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solidFill>
            <a:srgbClr val="BFCFE8"/>
          </a:solidFill>
          <a:ln w="762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0B1220"/>
                </a:solidFill>
                <a:latin typeface="Inter"/>
              </a:rPr>
              <a:t>Repo: github.com/.../nexis-eco   ·   local: app.nexis.local   ·   spec: docs/PROJECT_PLAN.md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