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Helvetica"/>
              </a:rPr>
              <a:t>AUTONOMOUS ENGINEERING · 1-MONTH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>
                <a:solidFill>
                  <a:srgbClr val="F8FAFC"/>
                </a:solidFill>
                <a:latin typeface="Helvetica"/>
              </a:rPr>
              <a:t>NEXIS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60A5FA"/>
                </a:solidFill>
                <a:latin typeface="Helvetica"/>
              </a:rPr>
              <a:t>Self-healing recovery for CI/CD and production pipelines.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Helvetica"/>
              </a:rPr>
              <a:t>Nine specialised agents · closed-loop fault recovery · engineer-in-the-loop on what matters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2194560" cy="128016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34D399"/>
                </a:solidFill>
                <a:latin typeface="Helvetica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Helvetica"/>
              </a:rPr>
              <a:t>agents in the fleet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4572000"/>
            <a:ext cx="2194560" cy="128016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017520" y="475488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34D399"/>
                </a:solidFill>
                <a:latin typeface="Helvetica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534924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Helvetica"/>
              </a:rPr>
              <a:t>Docker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4572000"/>
            <a:ext cx="2194560" cy="128016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303520" y="475488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34D399"/>
                </a:solidFill>
                <a:latin typeface="Helvetica"/>
              </a:rPr>
              <a:t>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534924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Helvetica"/>
              </a:rPr>
              <a:t>integrations catalogued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572000"/>
            <a:ext cx="2194560" cy="128016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89520" y="475488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34D399"/>
                </a:solidFill>
                <a:latin typeface="Helvetica"/>
              </a:rPr>
              <a:t>56%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534924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Helvetica"/>
              </a:rPr>
              <a:t>test coverage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4572000"/>
            <a:ext cx="2194560" cy="128016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875520" y="475488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34D399"/>
                </a:solidFill>
                <a:latin typeface="Helvetica"/>
              </a:rPr>
              <a:t>~150h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534924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Helvetica"/>
              </a:rPr>
              <a:t>of build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263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"/>
              </a:rPr>
              <a:t>Ratul Sikder  ·  2026-05-15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Helvetica"/>
              </a:rPr>
              <a:t>01 · 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Helvetica"/>
              </a:rPr>
              <a:t>NEXIS as a black 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38447" y="2194560"/>
            <a:ext cx="4114800" cy="2926080"/>
          </a:xfrm>
          <a:prstGeom prst="roundRect">
            <a:avLst/>
          </a:prstGeom>
          <a:solidFill>
            <a:srgbClr val="101422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38447" y="274320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60A5FA"/>
                </a:solidFill>
                <a:latin typeface="Helvetica"/>
              </a:rPr>
              <a:t>NEXIS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8447" y="35661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Helvetica"/>
              </a:rPr>
              <a:t>(autonomous recovery)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8447" y="42062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JetBrains Mono"/>
              </a:rPr>
              <a:t>9 agents · Temporal workflow · LLM-driven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Helvetica"/>
              </a:rP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3383280" cy="3200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Sentry issue (null-pointer, OOM, …)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Datadog metric anomaly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PagerDuty alert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GitHub push / webhook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Synthetic fault from /live-demo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2860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4D399"/>
                </a:solidFill>
                <a:latin typeface="Helvetica"/>
              </a:rPr>
              <a:t>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383280" cy="3200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Pull request with synthesised patch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Unit + property tests for the fix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CI workflow changes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DB migration if schema drift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Slack DM to on-call for approval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ArgoCD sync on green approval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31920" y="3383280"/>
            <a:ext cx="914400" cy="45720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315200" y="3383280"/>
            <a:ext cx="914400" cy="457200"/>
          </a:xfrm>
          <a:prstGeom prst="right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Helvetica"/>
              </a:rPr>
              <a:t>From the operator's view: a 3 a.m. page becomes an approval click. The pipeline does the diagnosis, patch, and validation in 30–90 seconds.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NEXIS · 1-month progress · Black 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Helvetica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Helvetica"/>
              </a:rPr>
              <a:t>02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Helvetica"/>
              </a:rPr>
              <a:t>System architecture — services +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64240" cy="100584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0A5FA"/>
                </a:solidFill>
                <a:latin typeface="Helvetica"/>
              </a:rPr>
              <a:t>Web (Next.js 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"/>
              </a:rPr>
              <a:t>User-facing console + marketing site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100584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Helvetica"/>
              </a:rPr>
              <a:t>Control-plane (Go + chi)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"/>
              </a:rPr>
              <a:t>Auth · RLS · Temporal client · agent registry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11064240" cy="100584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39776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  <a:latin typeface="Helvetica"/>
              </a:rPr>
              <a:t>Sidecars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"/>
              </a:rPr>
              <a:t>Validator (sandbox) · GitOps (PR open) · Causal-inference (Python)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9200"/>
            <a:ext cx="11064240" cy="100584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94A3B8"/>
                </a:solidFill>
                <a:latin typeface="Helvetica"/>
              </a:rPr>
              <a:t>Storage + infra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"/>
              </a:rPr>
              <a:t>Postgres 16 (RLS+pgvector) · Redis · MinIO · Neo4j · Temporal · OTel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897880" y="2468880"/>
            <a:ext cx="365760" cy="182880"/>
          </a:xfrm>
          <a:prstGeom prst="down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5897880" y="3657600"/>
            <a:ext cx="365760" cy="182880"/>
          </a:xfrm>
          <a:prstGeom prst="down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5897880" y="4846320"/>
            <a:ext cx="365760" cy="182880"/>
          </a:xfrm>
          <a:prstGeom prst="down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Helvetica"/>
              </a:rPr>
              <a:t>All adapters behind ports. Provider swaps (OpenAI ↔ Ollama, MinIO ↔ S3) = 1-file changes.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NEXIS · 1-month progress ·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Helvetica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Helvetica"/>
              </a:rPr>
              <a:t>03 · ARCHITECTURE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Helvetica"/>
              </a:rPr>
              <a:t>Inside the control-plane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713232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743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JetBrains Mono"/>
              </a:rPr>
              <a:t>transport / http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19072"/>
            <a:ext cx="7955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"/>
              </a:rPr>
              <a:t>chi routes · middleware (auth, RLS, CORS, body-limit, rate-limit) · DTO marshalling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13432"/>
            <a:ext cx="11064240" cy="713232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404872"/>
            <a:ext cx="2743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JetBrains Mono"/>
              </a:rPr>
              <a:t>usecase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78024"/>
            <a:ext cx="7955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"/>
              </a:rPr>
              <a:t>WorkflowService · BillingService · ProjectsService · EvalRunner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72384"/>
            <a:ext cx="11064240" cy="713232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3163824"/>
            <a:ext cx="2743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JetBrains Mono"/>
              </a:rPr>
              <a:t>adapter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36976"/>
            <a:ext cx="7955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"/>
              </a:rPr>
              <a:t>auth (workos|local) · billing (stripe|local) · integration (6) · agents (9) · llm (openai|ollama)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31336"/>
            <a:ext cx="11064240" cy="713232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3922776"/>
            <a:ext cx="2743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JetBrains Mono"/>
              </a:rPr>
              <a:t>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995928"/>
            <a:ext cx="7955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"/>
              </a:rPr>
              <a:t>Temporal worker · RecoveryPipeline · 9 activities · approval signal/timer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90288"/>
            <a:ext cx="11064240" cy="713232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4681728"/>
            <a:ext cx="2743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JetBrains Mono"/>
              </a:rPr>
              <a:t>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54880"/>
            <a:ext cx="7955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"/>
              </a:rPr>
              <a:t>Pure types: Principal · WorkflowRun · ApprovalDecision · ProjectSelectors ·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9240"/>
            <a:ext cx="11064240" cy="713232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5440680"/>
            <a:ext cx="2743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JetBrains Mono"/>
              </a:rPr>
              <a:t>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513832"/>
            <a:ext cx="7955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"/>
              </a:rPr>
              <a:t>config · db (pgxpool) · sse broker · temporal client · neo4j · otel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Helvetica"/>
              </a:rPr>
              <a:t>Port + adapter pattern · go-arch-lint enforced · 56% Go test coverage · zero lint errors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NEXIS · 1-month progress · Architecture deep-dive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Helvetica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Helvetica"/>
              </a:rPr>
              <a:t>04 · WHAT I BUILT —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Helvetica"/>
              </a:rPr>
              <a:t>Console UI — 26 surfaces, 7 sidebar sections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146304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Helvetica"/>
              </a:rPr>
              <a:t>WORKSPACE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029200" cy="914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Dashboard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Projects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Incidents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Approvals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Audit 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486400" cy="146304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Helvetica"/>
              </a:rPr>
              <a:t>FLEET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5029200" cy="914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Agents (9 + drill-down)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Workflows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Activity Stream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Validator Sandbox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90672"/>
            <a:ext cx="5486400" cy="146304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318211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Helvetica"/>
              </a:rPr>
              <a:t>OBSERVABILITY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47872"/>
            <a:ext cx="5029200" cy="914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Performance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Cost Tracker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System Health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090672"/>
            <a:ext cx="5486400" cy="146304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55080" y="318211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Helvetica"/>
              </a:rPr>
              <a:t>INTEGRATIONS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547872"/>
            <a:ext cx="5029200" cy="914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All Integrations (28)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Webhook Activity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Connection Health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26864"/>
            <a:ext cx="5486400" cy="146304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4718304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Helvetica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84064"/>
            <a:ext cx="5029200" cy="914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Recovery Pipeline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Eval Harness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Live Demo (27 fixtures)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Knowledge 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626864"/>
            <a:ext cx="5486400" cy="146304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55080" y="4718304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Helvetica"/>
              </a:rPr>
              <a:t>SETTINGS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084064"/>
            <a:ext cx="5029200" cy="914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F8FAFC"/>
                </a:solidFill>
                <a:latin typeface="Helvetica"/>
              </a:rPr>
              <a:t>•  Profile · API keys · Workspaces · Members · Billing · Preferences · Organization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NEXIS · 1-month progress · Console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Helvetica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Helvetica"/>
              </a:rPr>
              <a:t>05 · WHAT I BUILT — PROJECT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Helvetica"/>
              </a:rPr>
              <a:t>Connect-project wizard · 5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841248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01368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  <a:latin typeface="Helvetic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Helvetica"/>
              </a:rPr>
              <a:t>Basics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5740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"/>
              </a:rPr>
              <a:t>Name · environment (dev/staging/prod) · description ·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11064240" cy="841248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77240" y="260604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70048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  <a:latin typeface="Helvetic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603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Helvetica"/>
              </a:rP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2608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"/>
              </a:rPr>
              <a:t>Pick repo from installed App · default branch auto-fills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11064240" cy="841248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38728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  <a:latin typeface="Helvetic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4290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Helvetica"/>
              </a:rPr>
              <a:t>Sentry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79476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"/>
              </a:rPr>
              <a:t>Org slug + project slug · falls back to manual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60520"/>
            <a:ext cx="11064240" cy="841248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07408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  <a:latin typeface="Helvetic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2976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Helvetica"/>
              </a:rPr>
              <a:t>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6344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"/>
              </a:rPr>
              <a:t>ArgoCD app · PagerDuty service · Datadog tag · Slack channel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29200"/>
            <a:ext cx="11064240" cy="841248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77240" y="521208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76088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  <a:latin typeface="Helvetic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1663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Helvetica"/>
              </a:rPr>
              <a:t>Recovery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53212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Helvetica"/>
              </a:rPr>
              <a:t>Auto-merge thresholds · kill-switch · approver list · countdown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Helvetica"/>
              </a:rPr>
              <a:t>Each project becomes a self-healing target: incidents route to it by selector match (Sentry slug, Datadog tag, etc).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NEXIS · 1-month progress · Project setup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Helvetica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Helvetica"/>
              </a:rPr>
              <a:t>06 · WHAT I BUILT — DOCKER WORKSTATION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Helvetica"/>
              </a:rPr>
              <a:t>16 services orchestrated by docker-compose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703320" cy="457200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Helvetica"/>
              </a:rPr>
              <a:t>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"/>
              </a:rPr>
              <a:t>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8716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Next.js 16 · :3000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"/>
              </a:rPr>
              <a:t>Control-plane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7296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Go + chi · :8080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"/>
              </a:rPr>
              <a:t>Validator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5876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Docker sandbox runner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"/>
              </a:rPr>
              <a:t>GitOps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PR opener · GitHub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"/>
              </a:rPr>
              <a:t>Causal-inference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3036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Python FastAPI · :8090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554480"/>
            <a:ext cx="3703320" cy="457200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17720" y="1737360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Helvetica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19456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"/>
              </a:rPr>
              <a:t>Postgres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48716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+ pgvector · RLS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88036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"/>
              </a:rPr>
              <a:t>Redis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17296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Cache · rate-limit buckets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56616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"/>
              </a:rPr>
              <a:t>MinIO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85876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Patch storage · S3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25196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"/>
              </a:rPr>
              <a:t>Neo4j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54456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Codegraph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93776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"/>
              </a:rPr>
              <a:t>Temporal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23036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Workflow engine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554480"/>
            <a:ext cx="3703320" cy="457200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80" y="1737360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Helvetica"/>
              </a:rPr>
              <a:t>OBSERVABILITY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19456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"/>
              </a:rPr>
              <a:t>OTel Collector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48716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OTLP gateway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88036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"/>
              </a:rPr>
              <a:t>Prometheus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17296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Metrics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56616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"/>
              </a:rPr>
              <a:t>Grafana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85876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Dashboards · :3030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25196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"/>
              </a:rPr>
              <a:t>Loki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54456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Logs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93776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"/>
              </a:rPr>
              <a:t>Tempo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23036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Traces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62356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Helvetica"/>
              </a:rPr>
              <a:t>MailHog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916168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Dev SMTP · :8025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Helvetica"/>
              </a:rPr>
              <a:t>All services have restart policies, memory limits, and healthchecks. One command: `docker compose up -d`.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NEXIS · 1-month progress · Docker workstation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Helvetica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Helvetica"/>
              </a:rPr>
              <a:t>07.1 · THE FLEET — L2 DETECTION +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Helvetica"/>
              </a:rPr>
              <a:t>Agents 1/3 · L2 detection + 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1627632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48640" cy="292608"/>
          </a:xfrm>
          <a:prstGeom prst="roundRect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773936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A0E1A"/>
                </a:solidFill>
                <a:latin typeface="Helvetica"/>
              </a:rPr>
              <a:t>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9164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Helvetica"/>
              </a:rPr>
              <a:t>Sentinel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574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Stream poller · no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Helvetica"/>
              </a:rPr>
              <a:t>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2316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Helvetica"/>
              </a:rPr>
              <a:t>Sentry/Datadog/PD/GH webhooks · incidents_raw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231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Helvetica"/>
              </a:rPr>
              <a:t>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42316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Helvetica"/>
              </a:rPr>
              <a:t>IncidentDetected trigger · severity + fingerprint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4231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Helvetica"/>
              </a:rPr>
              <a:t>EX.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2316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JetBrains Mono"/>
              </a:rPr>
              <a:t>{"source":"sentry","title":"NullPointer",
 "severity":"high","fingerprint":"abc"}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73552"/>
            <a:ext cx="11064240" cy="1627632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7240" y="3456432"/>
            <a:ext cx="548640" cy="292608"/>
          </a:xfrm>
          <a:prstGeom prst="roundRect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349300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A0E1A"/>
                </a:solidFill>
                <a:latin typeface="Helvetica"/>
              </a:rPr>
              <a:t>L2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410712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Helvetica"/>
              </a:rPr>
              <a:t>Pathfinder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7764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gpt-4o + Neo4j + DoWhy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42232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Helvetica"/>
              </a:rPr>
              <a:t>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142232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Helvetica"/>
              </a:rPr>
              <a:t>IncidentDetected + codegraph + 5-min event window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142232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Helvetica"/>
              </a:rPr>
              <a:t>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142232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Helvetica"/>
              </a:rPr>
              <a:t>RootCauseHypothesis · candidate symbol + reason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142232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Helvetica"/>
              </a:rPr>
              <a:t>EX.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142232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JetBrains Mono"/>
              </a:rPr>
              <a:t>{"symbol":"OrdersHandler.go:42",
 "cause":"null total_amount","conf":0.91}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92624"/>
            <a:ext cx="11064240" cy="1627632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777240" y="5175504"/>
            <a:ext cx="548640" cy="292608"/>
          </a:xfrm>
          <a:prstGeom prst="roundRect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5212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A0E1A"/>
                </a:solidFill>
                <a:latin typeface="Helvetica"/>
              </a:rPr>
              <a:t>L2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129784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Helvetica"/>
              </a:rPr>
              <a:t>Synthesiser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495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gpt-4o-mini · classifies + routes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61304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Helvetica"/>
              </a:rPr>
              <a:t>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861304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Helvetica"/>
              </a:rPr>
              <a:t>RootCauseHypothesis · contract list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861304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Helvetica"/>
              </a:rPr>
              <a:t>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5861304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Helvetica"/>
              </a:rPr>
              <a:t>RecoveryPlan · which L1 agents to dispatch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861304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Helvetica"/>
              </a:rPr>
              <a:t>EX.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861304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JetBrains Mono"/>
              </a:rPr>
              <a:t>{"plan":[backend,qa,devops],
 "scenario":"null-deref"}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NEXIS · 1-month progress · Agents 1/3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Helvetica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Helvetica"/>
              </a:rPr>
              <a:t>07.2 · THE FLEET — L1 CODE &amp; TEST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Helvetica"/>
              </a:rPr>
              <a:t>Agents 2/3 · L1 code &amp; test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1627632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48640" cy="292608"/>
          </a:xfrm>
          <a:prstGeom prst="roundRect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773936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A0E1A"/>
                </a:solidFill>
                <a:latin typeface="Helvetica"/>
              </a:rP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9164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Helvetica"/>
              </a:rPr>
              <a:t>Architect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574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gpt-4o · structured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Helvetica"/>
              </a:rPr>
              <a:t>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2316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Helvetica"/>
              </a:rPr>
              <a:t>RecoveryPlan + retrieval chunks (pgvector)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231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Helvetica"/>
              </a:rPr>
              <a:t>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42316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Helvetica"/>
              </a:rPr>
              <a:t>SolutionPlan · ordered steps + dependencies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4231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Helvetica"/>
              </a:rPr>
              <a:t>EX.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2316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JetBrains Mono"/>
              </a:rPr>
              <a:t>{"steps":[{"agent":"backend",
 "scope":"single-file"}]}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73552"/>
            <a:ext cx="11064240" cy="1627632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7240" y="3456432"/>
            <a:ext cx="548640" cy="292608"/>
          </a:xfrm>
          <a:prstGeom prst="roundRect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349300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A0E1A"/>
                </a:solidFill>
                <a:latin typeface="Helvetica"/>
              </a:rPr>
              <a:t>L1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410712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Helvetica"/>
              </a:rP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7764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gpt-4o-mini · diff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42232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Helvetica"/>
              </a:rPr>
              <a:t>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142232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Helvetica"/>
              </a:rPr>
              <a:t>Plan step + caller chain + retrieval chunks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142232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Helvetica"/>
              </a:rPr>
              <a:t>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142232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Helvetica"/>
              </a:rPr>
              <a:t>Unified diff · stored encrypted in MinIO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142232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Helvetica"/>
              </a:rPr>
              <a:t>EX.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142232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JetBrains Mono"/>
              </a:rPr>
              <a:t>patches/{run_id}/Backend.Codegen.patch.enc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92624"/>
            <a:ext cx="11064240" cy="1627632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777240" y="5175504"/>
            <a:ext cx="548640" cy="292608"/>
          </a:xfrm>
          <a:prstGeom prst="roundRect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5212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A0E1A"/>
                </a:solidFill>
                <a:latin typeface="Helvetica"/>
              </a:rPr>
              <a:t>L1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129784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Helvetica"/>
              </a:rPr>
              <a:t>QA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495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gpt-4o-mini · property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61304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Helvetica"/>
              </a:rPr>
              <a:t>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861304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Helvetica"/>
              </a:rPr>
              <a:t>Patch + target symbol + existing test layout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861304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Helvetica"/>
              </a:rPr>
              <a:t>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5861304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Helvetica"/>
              </a:rPr>
              <a:t>3+ unit tests covering happy + edge paths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861304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Helvetica"/>
              </a:rPr>
              <a:t>EX.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861304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JetBrains Mono"/>
              </a:rPr>
              <a:t>tests/orders_handler_null_test.go (3 cases)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NEXIS · 1-month progress · Agents 2/3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Helvetica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Helvetica"/>
              </a:rPr>
              <a:t>07.3 · THE FLEET — L1 INFRA +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Helvetica"/>
              </a:rPr>
              <a:t>Agents 3/3 · L1 infra + routing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1627632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48640" cy="292608"/>
          </a:xfrm>
          <a:prstGeom prst="roundRect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773936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A0E1A"/>
                </a:solidFill>
                <a:latin typeface="Helvetica"/>
              </a:rP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9164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Helvetica"/>
              </a:rPr>
              <a:t>DevOps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574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gpt-4o-mini · YAML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Helvetica"/>
              </a:rPr>
              <a:t>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2316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Helvetica"/>
              </a:rPr>
              <a:t>Plan step + existing CI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231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Helvetica"/>
              </a:rPr>
              <a:t>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42316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Helvetica"/>
              </a:rPr>
              <a:t>GitHub Actions YAML + ArgoCD app diff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4231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Helvetica"/>
              </a:rPr>
              <a:t>EX.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2316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JetBrains Mono"/>
              </a:rPr>
              <a:t>.github/workflows/recovery.yml
+ argocd-app.yaml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73552"/>
            <a:ext cx="11064240" cy="1627632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7240" y="3456432"/>
            <a:ext cx="548640" cy="292608"/>
          </a:xfrm>
          <a:prstGeom prst="roundRect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349300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A0E1A"/>
                </a:solidFill>
                <a:latin typeface="Helvetica"/>
              </a:rPr>
              <a:t>L1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410712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Helvetica"/>
              </a:rPr>
              <a:t>Data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7764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gpt-4o · migration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42232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Helvetica"/>
              </a:rPr>
              <a:t>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142232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Helvetica"/>
              </a:rPr>
              <a:t>Schema-drift evidence + target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142232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Helvetica"/>
              </a:rPr>
              <a:t>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142232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Helvetica"/>
              </a:rPr>
              <a:t>Postgres migration + backfill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142232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Helvetica"/>
              </a:rPr>
              <a:t>EX.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142232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JetBrains Mono"/>
              </a:rPr>
              <a:t>0042_alter_orders_total_amount.up.sql
+ down.sql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92624"/>
            <a:ext cx="11064240" cy="1627632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777240" y="5175504"/>
            <a:ext cx="548640" cy="292608"/>
          </a:xfrm>
          <a:prstGeom prst="roundRect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5212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A0E1A"/>
                </a:solidFill>
                <a:latin typeface="Helvetica"/>
              </a:rPr>
              <a:t>ROUTER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129784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Helvetica"/>
              </a:rPr>
              <a:t>Approval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495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Rule engine · no 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61304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Helvetica"/>
              </a:rPr>
              <a:t>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861304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Helvetica"/>
              </a:rPr>
              <a:t>Plan severity + project recovery_policy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861304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Helvetica"/>
              </a:rPr>
              <a:t>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5861304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Helvetica"/>
              </a:rPr>
              <a:t>Decision · approve / reject / await human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861304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Helvetica"/>
              </a:rPr>
              <a:t>EX.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861304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JetBrains Mono"/>
              </a:rPr>
              <a:t>{"severity":"medium","decision":
 "await","countdown_s":120}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NEXIS · 1-month progress · Agents 3/3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Helvetica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Helvetica"/>
              </a:rPr>
              <a:t>08 ·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Helvetica"/>
              </a:rPr>
              <a:t>Recovery example · null-deref · ran in 4.8s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00:00.0</a:t>
            </a:r>
          </a:p>
        </p:txBody>
      </p:sp>
      <p:sp>
        <p:nvSpPr>
          <p:cNvPr id="6" name="Oval 5"/>
          <p:cNvSpPr/>
          <p:nvPr/>
        </p:nvSpPr>
        <p:spPr>
          <a:xfrm>
            <a:off x="1783080" y="1664208"/>
            <a:ext cx="182880" cy="1828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15544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JetBrains Mono"/>
              </a:rPr>
              <a:t>sentinel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55448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"/>
              </a:rPr>
              <a:t>Sentry webhook arrives  ·  1 fatal incident ingested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00:00.1</a:t>
            </a:r>
          </a:p>
        </p:txBody>
      </p:sp>
      <p:sp>
        <p:nvSpPr>
          <p:cNvPr id="10" name="Oval 9"/>
          <p:cNvSpPr/>
          <p:nvPr/>
        </p:nvSpPr>
        <p:spPr>
          <a:xfrm>
            <a:off x="1783080" y="2075688"/>
            <a:ext cx="182880" cy="1828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19659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JetBrains Mono"/>
              </a:rPr>
              <a:t>pathfinder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96596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"/>
              </a:rPr>
              <a:t>Causal RCA  ·  root-cause: null-pointer at handler/foo.go:42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7744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00:00.2</a:t>
            </a:r>
          </a:p>
        </p:txBody>
      </p:sp>
      <p:sp>
        <p:nvSpPr>
          <p:cNvPr id="14" name="Oval 13"/>
          <p:cNvSpPr/>
          <p:nvPr/>
        </p:nvSpPr>
        <p:spPr>
          <a:xfrm>
            <a:off x="1783080" y="2487168"/>
            <a:ext cx="182880" cy="1828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23774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JetBrains Mono"/>
              </a:rPr>
              <a:t>synthesiser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37744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"/>
              </a:rPr>
              <a:t>Plan  ·  fleet = [backend, qa, devops]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78892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00:00.6</a:t>
            </a:r>
          </a:p>
        </p:txBody>
      </p:sp>
      <p:sp>
        <p:nvSpPr>
          <p:cNvPr id="18" name="Oval 17"/>
          <p:cNvSpPr/>
          <p:nvPr/>
        </p:nvSpPr>
        <p:spPr>
          <a:xfrm>
            <a:off x="1783080" y="2898648"/>
            <a:ext cx="182880" cy="1828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27889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JetBrains Mono"/>
              </a:rPr>
              <a:t>architect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78892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"/>
              </a:rPr>
              <a:t>SolutionPlan  ·  2 steps · gpt-4o · 162 out 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0040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00:01.2</a:t>
            </a:r>
          </a:p>
        </p:txBody>
      </p:sp>
      <p:sp>
        <p:nvSpPr>
          <p:cNvPr id="22" name="Oval 21"/>
          <p:cNvSpPr/>
          <p:nvPr/>
        </p:nvSpPr>
        <p:spPr>
          <a:xfrm>
            <a:off x="1783080" y="3310128"/>
            <a:ext cx="182880" cy="1828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32004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JetBrains Mono"/>
              </a:rP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20040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"/>
              </a:rPr>
              <a:t>Unified diff  ·  +12 / −3 lines · stored in MinIO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61188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00:01.7</a:t>
            </a:r>
          </a:p>
        </p:txBody>
      </p:sp>
      <p:sp>
        <p:nvSpPr>
          <p:cNvPr id="26" name="Oval 25"/>
          <p:cNvSpPr/>
          <p:nvPr/>
        </p:nvSpPr>
        <p:spPr>
          <a:xfrm>
            <a:off x="1783080" y="3721608"/>
            <a:ext cx="182880" cy="1828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36118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JetBrains Mono"/>
              </a:rPr>
              <a:t>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61188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"/>
              </a:rPr>
              <a:t>3 tests  ·  92% line coverage · gpt-4o-mini · 177 out tokens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02336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00:02.0</a:t>
            </a:r>
          </a:p>
        </p:txBody>
      </p:sp>
      <p:sp>
        <p:nvSpPr>
          <p:cNvPr id="30" name="Oval 29"/>
          <p:cNvSpPr/>
          <p:nvPr/>
        </p:nvSpPr>
        <p:spPr>
          <a:xfrm>
            <a:off x="1783080" y="4133088"/>
            <a:ext cx="182880" cy="1828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0" y="40233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JetBrains Mono"/>
              </a:rPr>
              <a:t>devops ∥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02336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"/>
              </a:rPr>
              <a:t>CI workflow + migration (parallel branches)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43484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00:02.5</a:t>
            </a:r>
          </a:p>
        </p:txBody>
      </p:sp>
      <p:sp>
        <p:nvSpPr>
          <p:cNvPr id="34" name="Oval 33"/>
          <p:cNvSpPr/>
          <p:nvPr/>
        </p:nvSpPr>
        <p:spPr>
          <a:xfrm>
            <a:off x="1783080" y="4544568"/>
            <a:ext cx="182880" cy="1828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0" y="44348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JetBrains Mono"/>
              </a:rPr>
              <a:t>approval_gate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443484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"/>
              </a:rPr>
              <a:t>Severity=medium  ·  2-min countdown · operator approved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84632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00:04.8</a:t>
            </a:r>
          </a:p>
        </p:txBody>
      </p:sp>
      <p:sp>
        <p:nvSpPr>
          <p:cNvPr id="38" name="Oval 37"/>
          <p:cNvSpPr/>
          <p:nvPr/>
        </p:nvSpPr>
        <p:spPr>
          <a:xfrm>
            <a:off x="1783080" y="4956048"/>
            <a:ext cx="182880" cy="1828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0" y="48463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JetBrains Mono"/>
              </a:rPr>
              <a:t>pipeline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484632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Helvetica"/>
              </a:rPr>
              <a:t>Complete  ·  PR opened · ArgoCD sync queued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Helvetica"/>
              </a:rPr>
              <a:t>20 activity_events  ·  10 agent roles  ·  3,073 tokens in / 727 out  ·  recorded forever in Postgres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NEXIS · 1-month progress · End-to-end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Helvetica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Helvetica"/>
              </a:rPr>
              <a:t>09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Helvetica"/>
              </a:rPr>
              <a:t>What's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703320" cy="457200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Helvetica"/>
              </a:rPr>
              <a:t>PHASE 7 · CLOUD CUTOVER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3246120" cy="3840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Terraform plan validated  ·  15 modules ready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ECS Fargate + RDS Multi-AZ + KMS + Secrets Mgr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Modal.com for validator at scale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Temporal Cloud namespace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ArgoCD app-of-apps + GHA OIDC push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Status: scaffolded, awaiting AWS creds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703320" cy="457200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Helvetica"/>
              </a:rPr>
              <a:t>PHASE 8 · BETA + 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3246120" cy="3840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NASA-TLX user study (12 engineers)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Fault-injection benchmark · 30 scenarios × 5 seeds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vs. baselines: PagerDuty + human, single-LLM, manual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Public status page  ·  status.nexis.dev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Onboarding + Shepherd.js tour live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5 pilot tenants · ≥3 real auto-recoveries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703320" cy="4572000"/>
          </a:xfrm>
          <a:prstGeom prst="roundRect">
            <a:avLst/>
          </a:prstGeom>
          <a:solidFill>
            <a:srgbClr val="141A2A"/>
          </a:solidFill>
          <a:ln w="9525">
            <a:solidFill>
              <a:srgbClr val="2B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Helvetica"/>
              </a:rPr>
              <a:t>THESIS WRITING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3246120" cy="3840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Chapter 1 — Problem statement (drafted)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Chapter 2 — Literature review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Chapter 3 — System architecture (this deck)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Chapter 4 — Evaluation methodology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Chapter 5 — Results + discussion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8FAFC"/>
                </a:solidFill>
                <a:latin typeface="Helvetica"/>
              </a:rPr>
              <a:t>•  Defense rehearsal · live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"/>
              </a:rPr>
              <a:t>NEXIS · 1-month progress ·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Helvetica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Helvetica"/>
              </a:rPr>
              <a:t>10 ·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Helvetica"/>
              </a:rPr>
              <a:t>1-month timeline · ~150h at 1–2 h /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Helvetica"/>
              </a:rPr>
              <a:t>Phase 1 — Foundations + landing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627632"/>
            <a:ext cx="7772400" cy="228600"/>
          </a:xfrm>
          <a:prstGeom prst="roundRect">
            <a:avLst/>
          </a:prstGeom>
          <a:solidFill>
            <a:srgbClr val="141A2A"/>
          </a:solidFill>
          <a:ln w="6350">
            <a:solidFill>
              <a:srgbClr val="2B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1627632"/>
            <a:ext cx="777240" cy="2286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Helvetica"/>
              </a:rPr>
              <a:t>Monorepo · docker-compose · landing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9280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Helvetica"/>
              </a:rPr>
              <a:t>Phase 2 — Auth + tenancy + obs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965960"/>
            <a:ext cx="7772400" cy="228600"/>
          </a:xfrm>
          <a:prstGeom prst="roundRect">
            <a:avLst/>
          </a:prstGeom>
          <a:solidFill>
            <a:srgbClr val="141A2A"/>
          </a:solidFill>
          <a:ln w="6350">
            <a:solidFill>
              <a:srgbClr val="2B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965960"/>
            <a:ext cx="621791" cy="2286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75688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Helvetica"/>
              </a:rPr>
              <a:t>JWT · RLS · audit chain · OTel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31136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Helvetica"/>
              </a:rPr>
              <a:t>Phase 3 — Console + integrations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304288"/>
            <a:ext cx="7772400" cy="228600"/>
          </a:xfrm>
          <a:prstGeom prst="roundRect">
            <a:avLst/>
          </a:prstGeom>
          <a:solidFill>
            <a:srgbClr val="141A2A"/>
          </a:solidFill>
          <a:ln w="6350">
            <a:solidFill>
              <a:srgbClr val="2B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56632" y="2304288"/>
            <a:ext cx="932688" cy="2286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14016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Helvetica"/>
              </a:rPr>
              <a:t>8 console surfaces · 6 integration shells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569464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Helvetica"/>
              </a:rPr>
              <a:t>Phase 3.5 — Workspaces + billing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2642616"/>
            <a:ext cx="7772400" cy="228600"/>
          </a:xfrm>
          <a:prstGeom prst="roundRect">
            <a:avLst/>
          </a:prstGeom>
          <a:solidFill>
            <a:srgbClr val="141A2A"/>
          </a:solidFill>
          <a:ln w="6350">
            <a:solidFill>
              <a:srgbClr val="2B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89320" y="2642616"/>
            <a:ext cx="466344" cy="2286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752344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Helvetica"/>
              </a:rPr>
              <a:t>Org → workspace → project · Stripe-like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907792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Helvetica"/>
              </a:rPr>
              <a:t>Phase 4 — Pipeline substrate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2980944"/>
            <a:ext cx="7772400" cy="228600"/>
          </a:xfrm>
          <a:prstGeom prst="roundRect">
            <a:avLst/>
          </a:prstGeom>
          <a:solidFill>
            <a:srgbClr val="141A2A"/>
          </a:solidFill>
          <a:ln w="6350">
            <a:solidFill>
              <a:srgbClr val="2B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55664" y="2980944"/>
            <a:ext cx="699516" cy="2286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090672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Helvetica"/>
              </a:rPr>
              <a:t>Temporal · sandbox · MinIO patches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246120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Helvetica"/>
              </a:rPr>
              <a:t>Phase 5 — L1 agents + LLM spine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3319272"/>
            <a:ext cx="7772400" cy="228600"/>
          </a:xfrm>
          <a:prstGeom prst="roundRect">
            <a:avLst/>
          </a:prstGeom>
          <a:solidFill>
            <a:srgbClr val="141A2A"/>
          </a:solidFill>
          <a:ln w="6350">
            <a:solidFill>
              <a:srgbClr val="2B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55180" y="3319272"/>
            <a:ext cx="777240" cy="2286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429000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Helvetica"/>
              </a:rPr>
              <a:t>5 L1 agents · token ledger · pgvector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58444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Helvetica"/>
              </a:rPr>
              <a:t>Phase 6 — L2 + approval gate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0" y="3657600"/>
            <a:ext cx="7772400" cy="228600"/>
          </a:xfrm>
          <a:prstGeom prst="roundRect">
            <a:avLst/>
          </a:prstGeom>
          <a:solidFill>
            <a:srgbClr val="141A2A"/>
          </a:solidFill>
          <a:ln w="6350">
            <a:solidFill>
              <a:srgbClr val="2B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932420" y="3657600"/>
            <a:ext cx="1010412" cy="2286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767328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Helvetica"/>
              </a:rPr>
              <a:t>Sentinel · Pathfinder · Synthesiser ·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22776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Helvetica"/>
              </a:rPr>
              <a:t>Phase 7 — Cloud cutover (TF)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0" y="3995928"/>
            <a:ext cx="7772400" cy="228600"/>
          </a:xfrm>
          <a:prstGeom prst="roundRect">
            <a:avLst/>
          </a:prstGeom>
          <a:solidFill>
            <a:srgbClr val="141A2A"/>
          </a:solidFill>
          <a:ln w="6350">
            <a:solidFill>
              <a:srgbClr val="2B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42832" y="3995928"/>
            <a:ext cx="777239" cy="2286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105656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Helvetica"/>
              </a:rPr>
              <a:t>ECR · ECS · RDS · KMS modules scaffolded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61104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Helvetica"/>
              </a:rPr>
              <a:t>Phase 8 — Beta + eval prep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0" y="4334256"/>
            <a:ext cx="7772400" cy="228600"/>
          </a:xfrm>
          <a:prstGeom prst="roundRect">
            <a:avLst/>
          </a:prstGeom>
          <a:solidFill>
            <a:srgbClr val="141A2A"/>
          </a:solidFill>
          <a:ln w="6350">
            <a:solidFill>
              <a:srgbClr val="2B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720072" y="4334256"/>
            <a:ext cx="544067" cy="2286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443984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Helvetica"/>
              </a:rPr>
              <a:t>Onboarding · NASA-TLX · status page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99432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Helvetica"/>
              </a:rPr>
              <a:t>Audits + burn-down (3 waves)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0" y="4672584"/>
            <a:ext cx="7772400" cy="228600"/>
          </a:xfrm>
          <a:prstGeom prst="roundRect">
            <a:avLst/>
          </a:prstGeom>
          <a:solidFill>
            <a:srgbClr val="141A2A"/>
          </a:solidFill>
          <a:ln w="6350">
            <a:solidFill>
              <a:srgbClr val="2B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264140" y="4672584"/>
            <a:ext cx="777239" cy="2286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782312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Helvetica"/>
              </a:rPr>
              <a:t>135 findings · 17 critical fixed · 56% coverage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937760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Helvetica"/>
              </a:rPr>
              <a:t>Real integrations + demo polish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0" y="5010912"/>
            <a:ext cx="7772400" cy="228600"/>
          </a:xfrm>
          <a:prstGeom prst="roundRect">
            <a:avLst/>
          </a:prstGeom>
          <a:solidFill>
            <a:srgbClr val="141A2A"/>
          </a:solidFill>
          <a:ln w="6350">
            <a:solidFill>
              <a:srgbClr val="2B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1041380" y="5010912"/>
            <a:ext cx="388620" cy="2286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120640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Helvetica"/>
              </a:rPr>
              <a:t>GitHub App live · approve/reject · diff viewer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4D399"/>
                </a:solidFill>
                <a:latin typeface="Helvetica"/>
              </a:rPr>
              <a:t>27 git commits this week · 45/45 validation checks green · GitHub + OpenAI both live · demo-ready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Helvetica"/>
              </a:rPr>
              <a:t>Ratul Sikder  ·  NEXIS  ·  2026-05-15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